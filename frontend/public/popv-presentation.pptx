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2E8F0"/>
                </a:solidFill>
                <a:latin typeface="Inter"/>
              </a:defRPr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Inter"/>
              </a:defRPr>
            </a:pPr>
            <a:r>
              <a:t>Proof of Public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Inter"/>
              </a:defRPr>
            </a:pPr>
            <a:r>
              <a:t>No Proof. No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Inter"/>
              </a:defRPr>
            </a:pPr>
            <a:r>
              <a:t>A serverless Stellar Soroban dApp for government spending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Stellar Build Better Hackathon · Local Finance &amp; Real World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9E0B"/>
                </a:solidFill>
                <a:latin typeface="Inter"/>
              </a:defRPr>
            </a:pPr>
            <a:r>
              <a:t>$2.6T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Lost to corruption every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Ghost projects - paper only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Inflated budgets, shoddy work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Untraceable fund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45720" cy="4572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Inter"/>
              </a:defRPr>
            </a:pPr>
            <a: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Funds are released based on signatures, not proof of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F4444"/>
                </a:solidFill>
                <a:latin typeface="Inter"/>
              </a:defRPr>
            </a:pPr>
            <a:r>
              <a:t>✗ Paid before a brick is laid</a:t>
            </a:r>
          </a:p>
          <a:p>
            <a:pPr>
              <a:spcAft>
                <a:spcPts val="600"/>
              </a:spcAft>
              <a:defRPr sz="1300">
                <a:solidFill>
                  <a:srgbClr val="EF4444"/>
                </a:solidFill>
                <a:latin typeface="Inter"/>
              </a:defRPr>
            </a:pPr>
            <a:r>
              <a:t>✗ Paper evidence - tampered</a:t>
            </a:r>
          </a:p>
          <a:p>
            <a:pPr>
              <a:spcAft>
                <a:spcPts val="600"/>
              </a:spcAft>
              <a:defRPr sz="1300">
                <a:solidFill>
                  <a:srgbClr val="EF4444"/>
                </a:solidFill>
                <a:latin typeface="Inter"/>
              </a:defRPr>
            </a:pPr>
            <a:r>
              <a:t>✗ Auditors arrive years late</a:t>
            </a:r>
          </a:p>
          <a:p>
            <a:pPr>
              <a:spcAft>
                <a:spcPts val="600"/>
              </a:spcAft>
              <a:defRPr sz="1300">
                <a:solidFill>
                  <a:srgbClr val="EF4444"/>
                </a:solidFill>
                <a:latin typeface="Inter"/>
              </a:defRPr>
            </a:pPr>
            <a:r>
              <a:t>✗ No citizen voice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The Philippines 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5720" cy="4572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Inter"/>
              </a:defRPr>
            </a:pPr>
            <a:r>
              <a:t>The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₱10B PDAF pork barrel scam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Billions in ghost infrastructure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Funds released upfront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No one held accountable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45720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Cryptographic proof of work BEFORE any peso is released.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Every project becomes a PVO on Stellar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Funds locked behind 5 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Old Way vs PoPV 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5720" cy="4572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Inter"/>
              </a:defRPr>
            </a:pPr>
            <a:r>
              <a:t>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💰 Budget Approved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💸 Funds Released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🏗️ Work Happens (maybe)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🔍 Auditor Checks (years later)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45720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Inter"/>
              </a:defRPr>
            </a:pPr>
            <a:r>
              <a:t>PoPV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💰 Budget Approved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🔐 Funds Locked in Escrow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✅ 5 Gates Verified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💸 Only Then, Released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The 5 Verification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No single role can release funds. Each gate is independently verified on-chain.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057400" cy="34747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Gate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Inter"/>
              </a:defRPr>
            </a:pPr>
            <a:r>
              <a:t>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Physical work</a:t>
            </a:r>
            <a:br/>
            <a:r>
              <a:t>meets specs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828800"/>
            <a:ext cx="2057400" cy="34747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Gate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77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175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Inter"/>
              </a:defRPr>
            </a:pPr>
            <a:r>
              <a:t>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840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Procurement law</a:t>
            </a:r>
            <a:br/>
            <a:r>
              <a:t>&amp; 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2057400" cy="34747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Gate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77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0175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Inter"/>
              </a:defRPr>
            </a:pPr>
            <a:r>
              <a:t>Community</a:t>
            </a:r>
            <a:br/>
            <a:r>
              <a:t>Oracle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40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1+ verified citizen</a:t>
            </a:r>
            <a:br/>
            <a:r>
              <a:t>GPS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828800"/>
            <a:ext cx="2057400" cy="34747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Gate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377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0175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Inter"/>
              </a:defRPr>
            </a:pPr>
            <a:r>
              <a:t>Community</a:t>
            </a:r>
            <a:br/>
            <a: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40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N unique citizens</a:t>
            </a:r>
            <a:br/>
            <a:r>
              <a:t>confirm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828800"/>
            <a:ext cx="2057400" cy="34747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Gate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377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0175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Inter"/>
              </a:defRPr>
            </a:pPr>
            <a:r>
              <a:t>AI + 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840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AI assesses,</a:t>
            </a:r>
            <a:br/>
            <a:r>
              <a:t>auditor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Inter"/>
              </a:defRPr>
            </a:pPr>
            <a:r>
              <a:t>⚠️ If ANY gate fails, funds stay 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Gate 5 - AI Assesses, Human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5720" cy="4572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Inter"/>
              </a:defRPr>
            </a:pPr>
            <a:r>
              <a:t>AI Oracle Forensic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LLM fraud detection (DeepSeek / GPT)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13 forensic flags: GPS spoof, geo-mismatch, digital twin, duplicate evidence, budget anomaly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Risk score 0-100 with confidence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Recommends: Pass / Fail / Dispute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45720" cy="457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Inter"/>
              </a:defRPr>
            </a:pPr>
            <a:r>
              <a:t>Human Auditor Oversight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Dashboard shows pending reviews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Auditor sees AI rec + forensic evidence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Human decides: pass / fail / dispute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Decision recorded on-chain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Inter"/>
              </a:defRPr>
            </a:pPr>
            <a:r>
              <a:t>AI never auto-passes Gate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Architecture - 14 Contracts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Serverless. No backend. No database. Stellar is the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Inter"/>
              </a:defRPr>
            </a:pPr>
            <a:r>
              <a:t>access_control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14 roles with on-chain permissions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Inter"/>
              </a:defRPr>
            </a:pPr>
            <a:r>
              <a:t>pvo_core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PVO + Milestone lifecycle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Inter"/>
              </a:defRPr>
            </a:pPr>
            <a:r>
              <a:t>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5-gate conditional fund 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1752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Inter"/>
              </a:defRPr>
            </a:pPr>
            <a:r>
              <a:t>grant_commitment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Donor pledges, exact-match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community_oracle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Report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343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reputation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RPT gatekeeper, anti-Sybil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ai_oracle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43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Fraud detection + Gate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Architecture - 14 Contracts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compliance_engine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Regulatory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audit_trail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Immutable event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value_score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0-100 public value 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public_index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National rankings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19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procurement_market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Supplier registry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8619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Inter"/>
              </a:defRPr>
            </a:pPr>
            <a:r>
              <a:t>pphp_sac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CBDC settlement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5212080" cy="10058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popv_router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Query aggregator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Inter"/>
              </a:defRPr>
            </a:pPr>
            <a:r>
              <a:t>33 tests passing  ·  0 npm vulnerabilities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Token System - pPHP CBDC &amp; RPT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32004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pPHP - CBDC Settlement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Stellar Asset Contract, 7 decimals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Simulates Philippine Peso on testnet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Minted by CentralBank role only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Escrow funding + citizen rewards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SAC Units = Pesos × 10⁷ (₱1 = 10M)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32004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RPT - Reputation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Soulbound - cannot transfer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Citizens need ≥ 1 RPT to report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Only admin can mint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Anti-Sybil gatekeeper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4572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Inter"/>
              </a:defRPr>
            </a:pPr>
            <a:r>
              <a:t>CentralBank - CBDC Issuer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Mints pPHP as Central Bank Digital Currency on Stellar testnet. Disburses donor pledges. Mints citizen rewards for verified field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14 Roles - The Trust Model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Inter"/>
              </a:defRPr>
            </a:pPr>
            <a:r>
              <a:t>CentralBank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Mint pPHP CBDC, disburse pledges, mint rewards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Inter"/>
              </a:defRPr>
            </a:pPr>
            <a:r>
              <a:t>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Assign roles, manage config (CANNOT mint)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39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Inter"/>
              </a:defRPr>
            </a:pPr>
            <a:r>
              <a:t>GovernmentAgency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Create PVOs, define milestones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3756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Inter"/>
              </a:defRPr>
            </a:pPr>
            <a:r>
              <a:t>FundingAgency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Create &amp; fund escrows per milestone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6908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Inter"/>
              </a:defRPr>
            </a:pPr>
            <a:r>
              <a:t>InternationalDonor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Pledge exact PVO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0060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Contractor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Submit evidence (drone, GPS, photos)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53212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Technical approval - Gate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14 Roles - The Trust Model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AIAuditor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Fraud detection + Gate 5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Compliance check - Gate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39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CommissionOnAudit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Final compliance sign-off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3756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Inter"/>
              </a:defRPr>
            </a:pPr>
            <a:r>
              <a:t>Citizen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GPS field reports - Gates 3 &amp;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6908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Inspector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Evidence quality assurance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0060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Supplier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Pre-qualification registry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532120"/>
            <a:ext cx="100584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Inter"/>
              </a:defRPr>
            </a:pPr>
            <a:r>
              <a:t>AntiCorruptionAgency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Raise disputes, investigate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PVO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Inter"/>
              </a:defRPr>
            </a:pPr>
            <a:r>
              <a:t>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PVO 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Inter"/>
              </a:defRPr>
            </a:pPr>
            <a:r>
              <a:t>InProgress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1st escrow released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Inter"/>
              </a:defRPr>
            </a:pPr>
            <a: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All milestones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114800"/>
            <a:ext cx="5760720" cy="2103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4114800"/>
            <a:ext cx="45720" cy="2103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Inter"/>
              </a:defRPr>
            </a:pPr>
            <a:r>
              <a:t>Completion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4632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✅ Every milestone is Released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✅ Total released == final PVO budget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₱50M of ₱500M? Stays InProgress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Full Escrow Flow - 5 Gates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1.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Inter"/>
              </a:defRPr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Funding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Sets recipient, PVO,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2. 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Inter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Funding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Deposits pPHP into 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Inter"/>
              </a:defRPr>
            </a:pPr>
            <a:r>
              <a:t>Gate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Signs off physical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918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Inter"/>
              </a:defRPr>
            </a:pPr>
            <a:r>
              <a:t>Gate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Auditor / COA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918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Legal &amp; regulatory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Inter"/>
              </a:defRPr>
            </a:pPr>
            <a:r>
              <a:t>Gate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Community 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Auto-triggered by citizen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Inter"/>
              </a:defRPr>
            </a:pPr>
            <a:r>
              <a:t>Gate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Citizens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N unique confirmations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12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Inter"/>
              </a:defRPr>
            </a:pPr>
            <a:r>
              <a:t>Gate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AI Oracle → Auditor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2120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AI assesses, human decides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521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8.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8521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Inter"/>
              </a:defRPr>
            </a:pPr>
            <a:r>
              <a:t>Released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8521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Anyone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8521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Funds to contractor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Mobile App - Flutter iOS &amp; Android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2103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GPS PVO Hunter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Real-time map, color-coded pins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Proximity alerts near sites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Seed data fallback, live replace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2103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Field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Photo → IPFS → on-chain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Auto-triggers Gate 3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"Confirm Project" for Gate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212080" cy="2103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Wallet &amp;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Native XLM, Soulbound RPT, CBDC pPHP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Transaction history per asset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Stellar Expert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840480"/>
            <a:ext cx="5212080" cy="2103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Civic Reputation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Live on-chain reputation score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Drives reward tier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Rich iOS 17 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Citizen Reward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Citizens earn pPHP for verified reports. CentralBank mints rewards when AI Oracle confirms.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Inter"/>
              </a:defRPr>
            </a:pPr>
            <a: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GPS +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28600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Inter"/>
              </a:defRPr>
            </a:pPr>
            <a: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Oracle validates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28600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Inter"/>
              </a:defRPr>
            </a:pPr>
            <a:r>
              <a:t>AI Oracle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Confirms validity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28600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Inter"/>
              </a:defRPr>
            </a:pPr>
            <a:r>
              <a:t>CentralBank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Mints pPHP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Inter"/>
              </a:defRPr>
            </a:pPr>
            <a:r>
              <a:t>Tier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Inter"/>
              </a:defRPr>
            </a:pPr>
            <a:r>
              <a:t>High reputation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Higher reward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84048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Inter"/>
              </a:defRPr>
            </a:pPr>
            <a:r>
              <a:t>Tier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Inter"/>
              </a:defRPr>
            </a:pPr>
            <a:r>
              <a:t>Medium reputation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29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Standard reward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84048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Inter"/>
              </a:defRPr>
            </a:pPr>
            <a:r>
              <a:t>Tier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Inter"/>
              </a:defRPr>
            </a:pPr>
            <a:r>
              <a:t>Low reputation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029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Minimum reward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Community Verification - The People's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1. Citizen visits site with mobile app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2. Submits GPS report (photos, video)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3. Uploaded to IPFS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4. Oracle verifies → Gate 3 passes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5. N citizens confirm → Gate 4 passes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Inter"/>
              </a:defRPr>
            </a:pPr>
            <a:r>
              <a:t>Threshold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1-3: Low-risk urban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3-5: Rural, schools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5-10: High-corruption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Inter"/>
              </a:defRPr>
            </a:pPr>
            <a:r>
              <a:t>RPT gatekeeper prevents Sybil attacks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Provenance Indexer - Audit Trail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3657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Polls Stellar ledgers for all events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Builds provenance chains per PVO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Every event linked to tx hash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Serves Transparency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3657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Inter"/>
              </a:defRPr>
            </a:pPr>
            <a:r>
              <a:t>Who It Serves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Funding Agency - track pledges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COA - independent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Public - real-time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Every tx traceable to Stellar Expert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Inter"/>
              </a:defRPr>
            </a:pPr>
            <a:r>
              <a:t>Live: provenance.chain.popv.quest · 192+ events indexed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Grant Lifecycle - Donor to Escrow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Inter"/>
              </a:defRPr>
            </a:pPr>
            <a:r>
              <a:t>Committed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Donor pledged</a:t>
            </a:r>
            <a:br/>
            <a:r>
              <a:t>Exact budget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Inter"/>
              </a:defRPr>
            </a:pPr>
            <a:r>
              <a:t>Disbursed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CentralBank minted pPHP</a:t>
            </a:r>
            <a:br/>
            <a:r>
              <a:t>Sent to Funding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Inter"/>
              </a:defRPr>
            </a:pPr>
            <a: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All escrows released</a:t>
            </a:r>
            <a:br/>
            <a:r>
              <a:t>Grant settled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45720" cy="1828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Inter"/>
              </a:defRPr>
            </a:pPr>
            <a:r>
              <a:t>Key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Pledge must exactly equal PVO remaining budget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Contract rejects mismatches on-chain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Multiple escrows per grant, one per milestone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Budget Tracking - Funded vs Escrowed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Every PVO card shows a real-time bar of where the money 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PVO #30: Infrastructure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₱500,000,000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560320"/>
            <a:ext cx="41148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2560320"/>
            <a:ext cx="6217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₱200M escrowed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₱300M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All milestones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₱500,000,000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846320"/>
            <a:ext cx="10332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Inter"/>
              </a:defRPr>
            </a:pPr>
            <a:r>
              <a:t>Ready for Completion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Live on Testnet Right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PVOs across 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Escrows on PVO #30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Citizen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Forensic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192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754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Events Indexed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Inter"/>
              </a:defRPr>
            </a:pPr>
            <a:r>
              <a:t>iOS +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754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Flutter 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Inter"/>
              </a:defRPr>
            </a:pPr>
            <a:r>
              <a:t>PVO #30 all gates passed  ·  CentralBank CBDC  ·  Human auditor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Stellar Testnet (Soroban)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Rust #![no_std], SDK v26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React 19, TypeScript,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Tailwind CSS v4, on Vercel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Flutter 3.x (iOS &amp; Android)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GPS hunter + field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AI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LLM (DeepSeek / GPT)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13 forensic flags + human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Provenance Indexer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Independent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Public transparency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6344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DeFi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SAC pPHP (7 decimals, CBDC)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77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5-gate escrow + soulbound RPT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Security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🔑 RPT Gatekeeper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Soulbound tokens required to report. Anti-Sybil.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📏 Exact-Amount Pledges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Contract rejects budget mismatches on-chain.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🔐 5-Gate Consensus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No single role can release funds.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🧠 Human-in-the-Loop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AI recommends. Human decides Gate 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🔗 Immutable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Every decision on Stellar with tx hash.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663440"/>
            <a:ext cx="521208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Inter"/>
              </a:defRPr>
            </a:pPr>
            <a:r>
              <a:t>🛡️ CentralBank CBDC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Only CentralBank mints pPHP. Admin cannot.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Map Pins - Color-Coded by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5" name="Oval 4"/>
          <p:cNvSpPr/>
          <p:nvPr/>
        </p:nvSpPr>
        <p:spPr>
          <a:xfrm>
            <a:off x="2148840" y="2468880"/>
            <a:ext cx="365760" cy="3657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Inter"/>
              </a:defRPr>
            </a:pPr>
            <a: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9" name="Oval 8"/>
          <p:cNvSpPr/>
          <p:nvPr/>
        </p:nvSpPr>
        <p:spPr>
          <a:xfrm>
            <a:off x="5806440" y="2468880"/>
            <a:ext cx="365760" cy="36576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Inter"/>
              </a:defRPr>
            </a:pPr>
            <a:r>
              <a:t>Proposed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13" name="Oval 12"/>
          <p:cNvSpPr/>
          <p:nvPr/>
        </p:nvSpPr>
        <p:spPr>
          <a:xfrm>
            <a:off x="9464040" y="246888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Inter"/>
              </a:defRPr>
            </a:pPr>
            <a:r>
              <a:t>InProgress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17" name="Oval 16"/>
          <p:cNvSpPr/>
          <p:nvPr/>
        </p:nvSpPr>
        <p:spPr>
          <a:xfrm>
            <a:off x="2148840" y="4754880"/>
            <a:ext cx="365760" cy="36576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Inter"/>
              </a:defRPr>
            </a:pPr>
            <a:r>
              <a:t>Suspended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931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21" name="Oval 20"/>
          <p:cNvSpPr/>
          <p:nvPr/>
        </p:nvSpPr>
        <p:spPr>
          <a:xfrm>
            <a:off x="5806440" y="4754880"/>
            <a:ext cx="365760" cy="36576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Inter"/>
              </a:defRPr>
            </a:pPr>
            <a:r>
              <a:t>GPS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114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Inter"/>
              </a:defRPr>
            </a:pPr>
            <a:r>
              <a:t>📍</a:t>
            </a:r>
          </a:p>
        </p:txBody>
      </p:sp>
      <p:sp>
        <p:nvSpPr>
          <p:cNvPr id="25" name="Oval 24"/>
          <p:cNvSpPr/>
          <p:nvPr/>
        </p:nvSpPr>
        <p:spPr>
          <a:xfrm>
            <a:off x="9464040" y="4754880"/>
            <a:ext cx="365760" cy="36576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Inter"/>
              </a:defRPr>
            </a:pPr>
            <a:r>
              <a:t>Under 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What Makes PoPV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Fund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5-gate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On-chain + IPFS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Years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Citizen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91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91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Required for Gates 3 &amp;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Fraud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AI Oracle, 13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Paper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Flutter GPS + 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CBDC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12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Centralized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212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CentralBank on-chain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852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Inter"/>
              </a:defRPr>
            </a:pPr>
            <a:r>
              <a:t>Central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852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Inter"/>
              </a:defRPr>
            </a:pPr>
            <a:r>
              <a:t>Serverless on Stellar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Stellar Integration - Cross-Contract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Inter"/>
              </a:defRPr>
            </a:pPr>
            <a:r>
              <a:t>Escrow.release() → pvo_core.update_pvo_status()</a:t>
            </a:r>
            <a:br/>
            <a:r>
              <a:t>Grant.commit() → pvo_core.get_pvo_budget()</a:t>
            </a:r>
            <a:br/>
            <a:r>
              <a:t>CommunityOracle.verify() → reputation.check_balance()</a:t>
            </a:r>
            <a:br/>
            <a:r>
              <a:t>AIOracle.validate() → escrow.ai_validate()</a:t>
            </a:r>
            <a:br/>
            <a:r>
              <a:t>CentralBank.mint() → pphp_sac.mint()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Soroban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Every state change emits typed events: PVOStatusChanged, EscrowReleased, ReportSubmitted, RewardMinted...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Inter"/>
              </a:defRPr>
            </a:pPr>
            <a:r>
              <a:t>Provenance Indexer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Polls ledgers, indexes all events, builds chains. Serves public transparency portal.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Inter"/>
              </a:defRPr>
            </a:pPr>
            <a:r>
              <a:t>Quick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  <a:latin typeface="Courier New"/>
              </a:defRPr>
            </a:pPr>
            <a:r>
              <a:t># Frontend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  <a:r>
              <a:t>cd frontend &amp;&amp; npm install &amp;&amp; npm run dev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3B82F6"/>
                </a:solidFill>
                <a:latin typeface="Courier New"/>
              </a:defRPr>
            </a:pPr>
            <a:r>
              <a:t># Mobile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  <a:r>
              <a:t>cd mobile &amp;&amp; flutter pub get &amp;&amp; flutter run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3B82F6"/>
                </a:solidFill>
                <a:latin typeface="Courier New"/>
              </a:defRPr>
            </a:pPr>
            <a:r>
              <a:t># Tests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  <a:r>
              <a:t>cargo test -p escrow -p pvo_core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3B82F6"/>
                </a:solidFill>
                <a:latin typeface="Courier New"/>
              </a:defRPr>
            </a:pPr>
            <a:r>
              <a:t># Provenance Indexer</a:t>
            </a:r>
          </a:p>
          <a:p>
            <a:pPr>
              <a:defRPr sz="1400">
                <a:solidFill>
                  <a:srgbClr val="E2E8F0"/>
                </a:solidFill>
                <a:latin typeface="Courier New"/>
              </a:defRPr>
            </a:pPr>
            <a:r>
              <a:t>npx tsx provenance-indexer/service.ts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Inter"/>
              </a:defRPr>
            </a:pPr>
            <a:r>
              <a:t>Live: www.popv.quest  ·  18 PVOs on testnet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2E8F0"/>
                </a:solidFill>
                <a:latin typeface="Inter"/>
              </a:defRPr>
            </a:pPr>
            <a:r>
              <a:t>PoPV = Programmable Accountability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PVOs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On-chain entities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5-Gate Escrows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No single authority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14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Including CentralBank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Citizens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Mobile + rewards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840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AI + 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46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Forensic +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657600"/>
            <a:ext cx="3383280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840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Inter"/>
              </a:defRPr>
            </a:pPr>
            <a:r>
              <a:t>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Inter"/>
              </a:defRPr>
            </a:pPr>
            <a:r>
              <a:t>pPHP CBDC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46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CentralBank minted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Inter"/>
              </a:defRPr>
            </a:pPr>
            <a:r>
              <a:t>Build Better. Prove Value. Release Funds.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2E8F0"/>
                </a:solidFill>
                <a:latin typeface="Inter"/>
              </a:defRPr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  <a:latin typeface="Inter"/>
              </a:defRPr>
            </a:pPr>
            <a:r>
              <a:t>Step Up, or Be Watched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Inter"/>
              </a:defRPr>
            </a:pPr>
            <a:r>
              <a:t>Proof of Public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Inter"/>
              </a:defRPr>
            </a:pPr>
            <a:r>
              <a:t>To officials: do your job, and this system proves your integrity.</a:t>
            </a:r>
            <a:br/>
            <a:r>
              <a:t>Don't - and every citizen becomes your auditor.</a:t>
            </a:r>
            <a:br/>
            <a:br/>
            <a:r>
              <a:t>Every peso tracked. Every decision recorded. Every citizen watching.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Inter"/>
              </a:defRPr>
            </a:pPr>
            <a:r>
              <a:t>Live: www.popv.quest  ·  Provenance: provenance.chain.popv.quest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